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6"/>
  </p:notesMasterIdLst>
  <p:sldIdLst>
    <p:sldId id="285" r:id="rId2"/>
    <p:sldId id="256" r:id="rId3"/>
    <p:sldId id="259" r:id="rId4"/>
    <p:sldId id="260" r:id="rId5"/>
    <p:sldId id="261" r:id="rId6"/>
    <p:sldId id="263" r:id="rId7"/>
    <p:sldId id="267" r:id="rId8"/>
    <p:sldId id="268" r:id="rId9"/>
    <p:sldId id="271" r:id="rId10"/>
    <p:sldId id="284" r:id="rId11"/>
    <p:sldId id="282" r:id="rId12"/>
    <p:sldId id="278" r:id="rId13"/>
    <p:sldId id="277" r:id="rId14"/>
    <p:sldId id="283" r:id="rId15"/>
  </p:sldIdLst>
  <p:sldSz cx="12192000" cy="6858000"/>
  <p:notesSz cx="6858000" cy="9144000"/>
  <p:embeddedFontLst>
    <p:embeddedFont>
      <p:font typeface="Abril Fatface" panose="020B0604020202020204" pitchFamily="2" charset="0"/>
      <p:regular r:id="rId17"/>
    </p:embeddedFont>
    <p:embeddedFont>
      <p:font typeface="Aldrich" panose="02000000000000000000" pitchFamily="2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ndara" panose="020E0502030303020204" pitchFamily="34" charset="0"/>
      <p:regular r:id="rId23"/>
      <p:bold r:id="rId24"/>
      <p:italic r:id="rId25"/>
      <p:boldItalic r:id="rId26"/>
    </p:embeddedFont>
    <p:embeddedFont>
      <p:font typeface="Roboto" panose="020B0604020202020204" pitchFamily="2" charset="0"/>
      <p:regular r:id="rId27"/>
      <p:bold r:id="rId28"/>
      <p:italic r:id="rId29"/>
      <p:boldItalic r:id="rId30"/>
    </p:embeddedFont>
    <p:embeddedFont>
      <p:font typeface="Roboto Mono" panose="020B0604020202020204" pitchFamily="49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8F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>
        <p:scale>
          <a:sx n="75" d="100"/>
          <a:sy n="75" d="100"/>
        </p:scale>
        <p:origin x="612" y="-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a073618e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a073618e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11c3728c1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11c3728c1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a073618e6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a073618e6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11c3728c1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11c3728c1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048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11c3728c1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11c3728c1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6367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a073618e60_0_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a073618e60_0_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a073618e60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a073618e60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1518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2"/>
          <p:cNvGrpSpPr/>
          <p:nvPr/>
        </p:nvGrpSpPr>
        <p:grpSpPr>
          <a:xfrm>
            <a:off x="852246" y="3768247"/>
            <a:ext cx="3707096" cy="1936167"/>
            <a:chOff x="2176863" y="4518413"/>
            <a:chExt cx="5362500" cy="1301975"/>
          </a:xfrm>
        </p:grpSpPr>
        <p:sp>
          <p:nvSpPr>
            <p:cNvPr id="45" name="Google Shape;45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987983" y="3878297"/>
            <a:ext cx="635280" cy="147600"/>
            <a:chOff x="2147366" y="4139382"/>
            <a:chExt cx="635280" cy="147600"/>
          </a:xfrm>
        </p:grpSpPr>
        <p:sp>
          <p:nvSpPr>
            <p:cNvPr id="48" name="Google Shape;48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1618138" y="949638"/>
            <a:ext cx="8893200" cy="41094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2"/>
          <p:cNvGrpSpPr/>
          <p:nvPr/>
        </p:nvGrpSpPr>
        <p:grpSpPr>
          <a:xfrm>
            <a:off x="1771384" y="1059747"/>
            <a:ext cx="635280" cy="147600"/>
            <a:chOff x="2147366" y="4139382"/>
            <a:chExt cx="635280" cy="147600"/>
          </a:xfrm>
        </p:grpSpPr>
        <p:sp>
          <p:nvSpPr>
            <p:cNvPr id="53" name="Google Shape;53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5520051" y="4606376"/>
            <a:ext cx="5362500" cy="1301975"/>
            <a:chOff x="2176863" y="4518413"/>
            <a:chExt cx="5362500" cy="1301975"/>
          </a:xfrm>
        </p:grpSpPr>
        <p:sp>
          <p:nvSpPr>
            <p:cNvPr id="57" name="Google Shape;57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2"/>
          <p:cNvGrpSpPr/>
          <p:nvPr/>
        </p:nvGrpSpPr>
        <p:grpSpPr>
          <a:xfrm>
            <a:off x="5655734" y="4716497"/>
            <a:ext cx="635280" cy="147600"/>
            <a:chOff x="2147366" y="4139382"/>
            <a:chExt cx="635280" cy="147600"/>
          </a:xfrm>
        </p:grpSpPr>
        <p:sp>
          <p:nvSpPr>
            <p:cNvPr id="60" name="Google Shape;60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2176875" y="1137800"/>
            <a:ext cx="6796800" cy="322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64" name="Google Shape;64;p2"/>
          <p:cNvSpPr txBox="1">
            <a:spLocks noGrp="1"/>
          </p:cNvSpPr>
          <p:nvPr>
            <p:ph type="subTitle" idx="1"/>
          </p:nvPr>
        </p:nvSpPr>
        <p:spPr>
          <a:xfrm>
            <a:off x="5733525" y="4974200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CUSTOM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1119150" y="1089750"/>
            <a:ext cx="99537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6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134" name="Google Shape;134;p6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3811700" y="2041663"/>
            <a:ext cx="6345900" cy="157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drich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1"/>
          </p:nvPr>
        </p:nvSpPr>
        <p:spPr>
          <a:xfrm>
            <a:off x="2034300" y="4052838"/>
            <a:ext cx="8123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6387975" y="1429625"/>
            <a:ext cx="4809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7"/>
          <p:cNvGrpSpPr/>
          <p:nvPr/>
        </p:nvGrpSpPr>
        <p:grpSpPr>
          <a:xfrm>
            <a:off x="6541221" y="1539734"/>
            <a:ext cx="635280" cy="147600"/>
            <a:chOff x="2147366" y="4139382"/>
            <a:chExt cx="635280" cy="147600"/>
          </a:xfrm>
        </p:grpSpPr>
        <p:sp>
          <p:nvSpPr>
            <p:cNvPr id="142" name="Google Shape;142;p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7"/>
          <p:cNvSpPr/>
          <p:nvPr/>
        </p:nvSpPr>
        <p:spPr>
          <a:xfrm>
            <a:off x="994425" y="1429625"/>
            <a:ext cx="4809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7"/>
          <p:cNvGrpSpPr/>
          <p:nvPr/>
        </p:nvGrpSpPr>
        <p:grpSpPr>
          <a:xfrm>
            <a:off x="1147671" y="1539734"/>
            <a:ext cx="635280" cy="147600"/>
            <a:chOff x="2147366" y="4139382"/>
            <a:chExt cx="635280" cy="147600"/>
          </a:xfrm>
        </p:grpSpPr>
        <p:sp>
          <p:nvSpPr>
            <p:cNvPr id="147" name="Google Shape;147;p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994425" y="361575"/>
            <a:ext cx="10110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1315075" y="2268525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2"/>
          </p:nvPr>
        </p:nvSpPr>
        <p:spPr>
          <a:xfrm>
            <a:off x="6679275" y="2255000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790075" y="890150"/>
            <a:ext cx="99537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8"/>
          <p:cNvGrpSpPr/>
          <p:nvPr/>
        </p:nvGrpSpPr>
        <p:grpSpPr>
          <a:xfrm>
            <a:off x="943321" y="1000259"/>
            <a:ext cx="635280" cy="147600"/>
            <a:chOff x="2147366" y="4139382"/>
            <a:chExt cx="635280" cy="147600"/>
          </a:xfrm>
        </p:grpSpPr>
        <p:sp>
          <p:nvSpPr>
            <p:cNvPr id="156" name="Google Shape;156;p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8"/>
          <p:cNvSpPr txBox="1">
            <a:spLocks noGrp="1"/>
          </p:cNvSpPr>
          <p:nvPr>
            <p:ph type="subTitle" idx="1"/>
          </p:nvPr>
        </p:nvSpPr>
        <p:spPr>
          <a:xfrm>
            <a:off x="920475" y="1895300"/>
            <a:ext cx="77940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title"/>
          </p:nvPr>
        </p:nvSpPr>
        <p:spPr>
          <a:xfrm>
            <a:off x="920475" y="845500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61" name="Google Shape;161;p8"/>
          <p:cNvSpPr txBox="1">
            <a:spLocks noGrp="1"/>
          </p:cNvSpPr>
          <p:nvPr>
            <p:ph type="body" idx="2"/>
          </p:nvPr>
        </p:nvSpPr>
        <p:spPr>
          <a:xfrm>
            <a:off x="920475" y="2555475"/>
            <a:ext cx="7794000" cy="3436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666000" y="1518625"/>
            <a:ext cx="10932600" cy="46206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1"/>
          <p:cNvGrpSpPr/>
          <p:nvPr/>
        </p:nvGrpSpPr>
        <p:grpSpPr>
          <a:xfrm>
            <a:off x="819246" y="1628734"/>
            <a:ext cx="635280" cy="147600"/>
            <a:chOff x="2147366" y="4139382"/>
            <a:chExt cx="635280" cy="147600"/>
          </a:xfrm>
        </p:grpSpPr>
        <p:sp>
          <p:nvSpPr>
            <p:cNvPr id="187" name="Google Shape;187;p11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1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1" name="Google Shape;191;p11"/>
          <p:cNvSpPr txBox="1">
            <a:spLocks noGrp="1"/>
          </p:cNvSpPr>
          <p:nvPr>
            <p:ph type="subTitle" idx="2"/>
          </p:nvPr>
        </p:nvSpPr>
        <p:spPr>
          <a:xfrm>
            <a:off x="1217558" y="310036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2" name="Google Shape;192;p11"/>
          <p:cNvSpPr txBox="1">
            <a:spLocks noGrp="1"/>
          </p:cNvSpPr>
          <p:nvPr>
            <p:ph type="subTitle" idx="3"/>
          </p:nvPr>
        </p:nvSpPr>
        <p:spPr>
          <a:xfrm>
            <a:off x="1217558" y="440045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3" name="Google Shape;193;p11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94" name="Google Shape;194;p11"/>
          <p:cNvSpPr txBox="1">
            <a:spLocks noGrp="1"/>
          </p:cNvSpPr>
          <p:nvPr>
            <p:ph type="body" idx="4"/>
          </p:nvPr>
        </p:nvSpPr>
        <p:spPr>
          <a:xfrm>
            <a:off x="1217550" y="2238218"/>
            <a:ext cx="97551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95" name="Google Shape;195;p11"/>
          <p:cNvSpPr txBox="1">
            <a:spLocks noGrp="1"/>
          </p:cNvSpPr>
          <p:nvPr>
            <p:ph type="body" idx="5"/>
          </p:nvPr>
        </p:nvSpPr>
        <p:spPr>
          <a:xfrm>
            <a:off x="1217550" y="3526878"/>
            <a:ext cx="97551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96" name="Google Shape;196;p11"/>
          <p:cNvSpPr txBox="1">
            <a:spLocks noGrp="1"/>
          </p:cNvSpPr>
          <p:nvPr>
            <p:ph type="body" idx="6"/>
          </p:nvPr>
        </p:nvSpPr>
        <p:spPr>
          <a:xfrm>
            <a:off x="1217550" y="4813738"/>
            <a:ext cx="9756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0 Text and Image">
  <p:cSld name="CUSTOM_9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>
            <a:spLocks noGrp="1"/>
          </p:cNvSpPr>
          <p:nvPr>
            <p:ph type="title"/>
          </p:nvPr>
        </p:nvSpPr>
        <p:spPr>
          <a:xfrm>
            <a:off x="411275" y="1727000"/>
            <a:ext cx="4458300" cy="2377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2pPr>
            <a:lvl3pPr lvl="2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3pPr>
            <a:lvl4pPr lvl="3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4pPr>
            <a:lvl5pPr lvl="4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5pPr>
            <a:lvl6pPr lvl="5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6pPr>
            <a:lvl7pPr lvl="6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7pPr>
            <a:lvl8pPr lvl="7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8pPr>
            <a:lvl9pPr lvl="8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1"/>
          </p:nvPr>
        </p:nvSpPr>
        <p:spPr>
          <a:xfrm>
            <a:off x="411275" y="5029775"/>
            <a:ext cx="44583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3 Six columns">
  <p:cSld name="CUSTOM_12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/>
          <p:nvPr/>
        </p:nvSpPr>
        <p:spPr>
          <a:xfrm>
            <a:off x="637675" y="1652150"/>
            <a:ext cx="109947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" name="Google Shape;258;p15"/>
          <p:cNvGrpSpPr/>
          <p:nvPr/>
        </p:nvGrpSpPr>
        <p:grpSpPr>
          <a:xfrm>
            <a:off x="790921" y="1762259"/>
            <a:ext cx="635280" cy="147600"/>
            <a:chOff x="2147366" y="4139382"/>
            <a:chExt cx="635280" cy="147600"/>
          </a:xfrm>
        </p:grpSpPr>
        <p:sp>
          <p:nvSpPr>
            <p:cNvPr id="259" name="Google Shape;259;p15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5"/>
          <p:cNvSpPr txBox="1">
            <a:spLocks noGrp="1"/>
          </p:cNvSpPr>
          <p:nvPr>
            <p:ph type="subTitle" idx="1"/>
          </p:nvPr>
        </p:nvSpPr>
        <p:spPr>
          <a:xfrm>
            <a:off x="1068150" y="239220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3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3" name="Google Shape;263;p15"/>
          <p:cNvSpPr txBox="1">
            <a:spLocks noGrp="1"/>
          </p:cNvSpPr>
          <p:nvPr>
            <p:ph type="subTitle" idx="2"/>
          </p:nvPr>
        </p:nvSpPr>
        <p:spPr>
          <a:xfrm>
            <a:off x="1068150" y="4248925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4" name="Google Shape;264;p15"/>
          <p:cNvSpPr txBox="1">
            <a:spLocks noGrp="1"/>
          </p:cNvSpPr>
          <p:nvPr>
            <p:ph type="subTitle" idx="3"/>
          </p:nvPr>
        </p:nvSpPr>
        <p:spPr>
          <a:xfrm>
            <a:off x="8181360" y="240158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5" name="Google Shape;265;p15"/>
          <p:cNvSpPr txBox="1">
            <a:spLocks noGrp="1"/>
          </p:cNvSpPr>
          <p:nvPr>
            <p:ph type="subTitle" idx="4"/>
          </p:nvPr>
        </p:nvSpPr>
        <p:spPr>
          <a:xfrm>
            <a:off x="4643968" y="240955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6" name="Google Shape;266;p15"/>
          <p:cNvSpPr txBox="1">
            <a:spLocks noGrp="1"/>
          </p:cNvSpPr>
          <p:nvPr>
            <p:ph type="subTitle" idx="5"/>
          </p:nvPr>
        </p:nvSpPr>
        <p:spPr>
          <a:xfrm>
            <a:off x="4643968" y="4248925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7" name="Google Shape;267;p15"/>
          <p:cNvSpPr txBox="1">
            <a:spLocks noGrp="1"/>
          </p:cNvSpPr>
          <p:nvPr>
            <p:ph type="subTitle" idx="6"/>
          </p:nvPr>
        </p:nvSpPr>
        <p:spPr>
          <a:xfrm>
            <a:off x="8181360" y="4230380"/>
            <a:ext cx="30180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3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68" name="Google Shape;268;p15"/>
          <p:cNvSpPr txBox="1">
            <a:spLocks noGrp="1"/>
          </p:cNvSpPr>
          <p:nvPr>
            <p:ph type="title"/>
          </p:nvPr>
        </p:nvSpPr>
        <p:spPr>
          <a:xfrm>
            <a:off x="720400" y="364775"/>
            <a:ext cx="1091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69" name="Google Shape;269;p15"/>
          <p:cNvSpPr txBox="1">
            <a:spLocks noGrp="1"/>
          </p:cNvSpPr>
          <p:nvPr>
            <p:ph type="body" idx="7"/>
          </p:nvPr>
        </p:nvSpPr>
        <p:spPr>
          <a:xfrm>
            <a:off x="4643968" y="28184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0" name="Google Shape;270;p15"/>
          <p:cNvSpPr txBox="1">
            <a:spLocks noGrp="1"/>
          </p:cNvSpPr>
          <p:nvPr>
            <p:ph type="body" idx="8"/>
          </p:nvPr>
        </p:nvSpPr>
        <p:spPr>
          <a:xfrm>
            <a:off x="8181360" y="46472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1" name="Google Shape;271;p15"/>
          <p:cNvSpPr txBox="1">
            <a:spLocks noGrp="1"/>
          </p:cNvSpPr>
          <p:nvPr>
            <p:ph type="body" idx="9"/>
          </p:nvPr>
        </p:nvSpPr>
        <p:spPr>
          <a:xfrm>
            <a:off x="4643968" y="46472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2" name="Google Shape;272;p15"/>
          <p:cNvSpPr txBox="1">
            <a:spLocks noGrp="1"/>
          </p:cNvSpPr>
          <p:nvPr>
            <p:ph type="body" idx="13"/>
          </p:nvPr>
        </p:nvSpPr>
        <p:spPr>
          <a:xfrm>
            <a:off x="1068150" y="28184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3" name="Google Shape;273;p15"/>
          <p:cNvSpPr txBox="1">
            <a:spLocks noGrp="1"/>
          </p:cNvSpPr>
          <p:nvPr>
            <p:ph type="body" idx="14"/>
          </p:nvPr>
        </p:nvSpPr>
        <p:spPr>
          <a:xfrm>
            <a:off x="8181360" y="28184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4" name="Google Shape;274;p15"/>
          <p:cNvSpPr txBox="1">
            <a:spLocks noGrp="1"/>
          </p:cNvSpPr>
          <p:nvPr>
            <p:ph type="body" idx="15"/>
          </p:nvPr>
        </p:nvSpPr>
        <p:spPr>
          <a:xfrm>
            <a:off x="1068150" y="4647200"/>
            <a:ext cx="30180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7 Title and text right">
  <p:cSld name="CUSTOM_16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"/>
          <p:cNvSpPr/>
          <p:nvPr/>
        </p:nvSpPr>
        <p:spPr>
          <a:xfrm>
            <a:off x="4641925" y="861150"/>
            <a:ext cx="6930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19"/>
          <p:cNvGrpSpPr/>
          <p:nvPr/>
        </p:nvGrpSpPr>
        <p:grpSpPr>
          <a:xfrm>
            <a:off x="4777596" y="971259"/>
            <a:ext cx="635280" cy="147600"/>
            <a:chOff x="2147366" y="4139382"/>
            <a:chExt cx="635280" cy="147600"/>
          </a:xfrm>
        </p:grpSpPr>
        <p:sp>
          <p:nvSpPr>
            <p:cNvPr id="345" name="Google Shape;345;p19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19"/>
          <p:cNvSpPr txBox="1">
            <a:spLocks noGrp="1"/>
          </p:cNvSpPr>
          <p:nvPr>
            <p:ph type="title"/>
          </p:nvPr>
        </p:nvSpPr>
        <p:spPr>
          <a:xfrm>
            <a:off x="5300000" y="1512400"/>
            <a:ext cx="3831300" cy="1839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49" name="Google Shape;349;p19"/>
          <p:cNvSpPr txBox="1">
            <a:spLocks noGrp="1"/>
          </p:cNvSpPr>
          <p:nvPr>
            <p:ph type="body" idx="1"/>
          </p:nvPr>
        </p:nvSpPr>
        <p:spPr>
          <a:xfrm>
            <a:off x="5300088" y="3351250"/>
            <a:ext cx="5581500" cy="1702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/>
          <p:nvPr/>
        </p:nvSpPr>
        <p:spPr>
          <a:xfrm>
            <a:off x="1136725" y="1089750"/>
            <a:ext cx="6930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p20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353" name="Google Shape;353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p20"/>
          <p:cNvGrpSpPr/>
          <p:nvPr/>
        </p:nvGrpSpPr>
        <p:grpSpPr>
          <a:xfrm>
            <a:off x="7242946" y="2331434"/>
            <a:ext cx="635280" cy="147600"/>
            <a:chOff x="2147366" y="4139382"/>
            <a:chExt cx="635280" cy="147600"/>
          </a:xfrm>
        </p:grpSpPr>
        <p:sp>
          <p:nvSpPr>
            <p:cNvPr id="359" name="Google Shape;359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0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63" name="Google Shape;363;p20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body" idx="2"/>
          </p:nvPr>
        </p:nvSpPr>
        <p:spPr>
          <a:xfrm>
            <a:off x="7372700" y="3014400"/>
            <a:ext cx="3167700" cy="106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10;p1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7" r:id="rId5"/>
    <p:sldLayoutId id="2147483659" r:id="rId6"/>
    <p:sldLayoutId id="2147483661" r:id="rId7"/>
    <p:sldLayoutId id="2147483665" r:id="rId8"/>
    <p:sldLayoutId id="2147483666" r:id="rId9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98DBD24-6832-7C98-4EA9-F68661FCE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9300" y="4862574"/>
            <a:ext cx="5873400" cy="717900"/>
          </a:xfrm>
        </p:spPr>
        <p:txBody>
          <a:bodyPr/>
          <a:lstStyle/>
          <a:p>
            <a:r>
              <a:rPr lang="en-US" dirty="0"/>
              <a:t>Date held: </a:t>
            </a:r>
            <a:r>
              <a:rPr lang="en-US" dirty="0">
                <a:solidFill>
                  <a:schemeClr val="accent3"/>
                </a:solidFill>
              </a:rPr>
              <a:t>May 23, 2023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0B3944-DE25-BE42-FC32-C12BA9D5D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300" y="2205900"/>
            <a:ext cx="5873400" cy="2446200"/>
          </a:xfrm>
        </p:spPr>
        <p:txBody>
          <a:bodyPr/>
          <a:lstStyle/>
          <a:p>
            <a:r>
              <a:rPr lang="en-US" dirty="0"/>
              <a:t>WELCOME TO THE </a:t>
            </a:r>
            <a:r>
              <a:rPr lang="en-US" dirty="0">
                <a:solidFill>
                  <a:schemeClr val="accent2"/>
                </a:solidFill>
              </a:rPr>
              <a:t>FINAL DEFENSE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2AB39F-F7E2-A5CE-96E5-1C08A58BF8F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372700" y="2775325"/>
            <a:ext cx="3167700" cy="2025249"/>
          </a:xfrm>
        </p:spPr>
        <p:txBody>
          <a:bodyPr/>
          <a:lstStyle/>
          <a:p>
            <a:r>
              <a:rPr lang="en-US" dirty="0"/>
              <a:t>Greetings from our adviser, Ma’am </a:t>
            </a:r>
            <a:r>
              <a:rPr lang="en-US" dirty="0" err="1">
                <a:solidFill>
                  <a:schemeClr val="accent1"/>
                </a:solidFill>
              </a:rPr>
              <a:t>Jalipha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Ampog</a:t>
            </a:r>
            <a:r>
              <a:rPr lang="en-US" dirty="0"/>
              <a:t> and the Whole </a:t>
            </a:r>
            <a:r>
              <a:rPr lang="en-US" dirty="0">
                <a:solidFill>
                  <a:schemeClr val="accent1"/>
                </a:solidFill>
              </a:rPr>
              <a:t>TVL-ICT students</a:t>
            </a:r>
          </a:p>
        </p:txBody>
      </p:sp>
    </p:spTree>
    <p:extLst>
      <p:ext uri="{BB962C8B-B14F-4D97-AF65-F5344CB8AC3E}">
        <p14:creationId xmlns:p14="http://schemas.microsoft.com/office/powerpoint/2010/main" val="405323031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>
            <a:spLocks noGrp="1"/>
          </p:cNvSpPr>
          <p:nvPr>
            <p:ph type="title"/>
          </p:nvPr>
        </p:nvSpPr>
        <p:spPr>
          <a:xfrm>
            <a:off x="2523475" y="1607299"/>
            <a:ext cx="6796800" cy="2902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CLASS SCHEDULING MANAGEMENT SYSTEM</a:t>
            </a:r>
            <a:r>
              <a:rPr lang="en" sz="6000" dirty="0"/>
              <a:t> </a:t>
            </a:r>
            <a:br>
              <a:rPr lang="en" sz="6000" dirty="0"/>
            </a:br>
            <a:r>
              <a:rPr lang="en" dirty="0">
                <a:solidFill>
                  <a:schemeClr val="accent1"/>
                </a:solidFill>
              </a:rPr>
              <a:t>CSMS</a:t>
            </a:r>
            <a:endParaRPr sz="5000" dirty="0"/>
          </a:p>
        </p:txBody>
      </p:sp>
      <p:sp>
        <p:nvSpPr>
          <p:cNvPr id="381" name="Google Shape;381;p22"/>
          <p:cNvSpPr txBox="1">
            <a:spLocks noGrp="1"/>
          </p:cNvSpPr>
          <p:nvPr>
            <p:ph type="subTitle" idx="1"/>
          </p:nvPr>
        </p:nvSpPr>
        <p:spPr>
          <a:xfrm>
            <a:off x="5733525" y="4775501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600" dirty="0">
                <a:solidFill>
                  <a:schemeClr val="accent1"/>
                </a:solidFill>
              </a:rPr>
              <a:t>&lt;p&gt;</a:t>
            </a:r>
            <a:r>
              <a:rPr lang="en" sz="1600" dirty="0"/>
              <a:t> Presented by: </a:t>
            </a:r>
            <a:r>
              <a:rPr lang="en" sz="1600" dirty="0">
                <a:solidFill>
                  <a:schemeClr val="accent1"/>
                </a:solidFill>
              </a:rPr>
              <a:t>Hosni Benito</a:t>
            </a:r>
            <a:r>
              <a:rPr lang="en" sz="1600" dirty="0"/>
              <a:t>, </a:t>
            </a:r>
            <a:r>
              <a:rPr lang="en" sz="1600" dirty="0">
                <a:solidFill>
                  <a:schemeClr val="accent1"/>
                </a:solidFill>
              </a:rPr>
              <a:t>Monthafer Barani</a:t>
            </a:r>
            <a:r>
              <a:rPr lang="en" sz="1600" dirty="0"/>
              <a:t>, </a:t>
            </a:r>
            <a:r>
              <a:rPr lang="en" sz="1600" dirty="0">
                <a:solidFill>
                  <a:schemeClr val="accent1"/>
                </a:solidFill>
              </a:rPr>
              <a:t>Abdulrahim Abdulbasher</a:t>
            </a:r>
            <a:r>
              <a:rPr lang="en" sz="1600" dirty="0"/>
              <a:t>, </a:t>
            </a:r>
            <a:r>
              <a:rPr lang="en" sz="1600" dirty="0">
                <a:solidFill>
                  <a:schemeClr val="accent1"/>
                </a:solidFill>
              </a:rPr>
              <a:t>Rania H. Azis</a:t>
            </a:r>
            <a:r>
              <a:rPr lang="en" sz="1600" dirty="0"/>
              <a:t> </a:t>
            </a:r>
            <a:r>
              <a:rPr lang="en" sz="1600" dirty="0">
                <a:solidFill>
                  <a:schemeClr val="accent1"/>
                </a:solidFill>
              </a:rPr>
              <a:t>&lt;/p&gt;</a:t>
            </a:r>
            <a:endParaRPr sz="16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"/>
          <p:cNvSpPr txBox="1">
            <a:spLocks noGrp="1"/>
          </p:cNvSpPr>
          <p:nvPr>
            <p:ph type="body" idx="1"/>
          </p:nvPr>
        </p:nvSpPr>
        <p:spPr>
          <a:xfrm>
            <a:off x="1648800" y="3849650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chemeClr val="accent1"/>
                </a:solidFill>
              </a:rPr>
              <a:t>&lt;p&gt;</a:t>
            </a:r>
            <a:r>
              <a:rPr lang="en-US" sz="2100" dirty="0">
                <a:solidFill>
                  <a:schemeClr val="accent3"/>
                </a:solidFill>
              </a:rPr>
              <a:t> </a:t>
            </a:r>
            <a:r>
              <a:rPr lang="en-US" dirty="0"/>
              <a:t>The key purpose of this project is to provide and assess students at </a:t>
            </a:r>
            <a:r>
              <a:rPr lang="en-US" dirty="0">
                <a:solidFill>
                  <a:schemeClr val="accent1"/>
                </a:solidFill>
              </a:rPr>
              <a:t>Mindanao State University – Marawi Senior High School</a:t>
            </a:r>
            <a:r>
              <a:rPr lang="en-US" dirty="0"/>
              <a:t> with a system beneficial for managing their time and schedule. </a:t>
            </a:r>
            <a:r>
              <a:rPr lang="en-US" sz="2100" dirty="0">
                <a:solidFill>
                  <a:schemeClr val="accent1"/>
                </a:solidFill>
              </a:rPr>
              <a:t>&lt;/p&gt;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11" name="Google Shape;411;p25"/>
          <p:cNvSpPr txBox="1">
            <a:spLocks noGrp="1"/>
          </p:cNvSpPr>
          <p:nvPr>
            <p:ph type="title"/>
          </p:nvPr>
        </p:nvSpPr>
        <p:spPr>
          <a:xfrm>
            <a:off x="3506900" y="2041675"/>
            <a:ext cx="7345500" cy="157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tx1"/>
                </a:solidFill>
              </a:rPr>
              <a:t>ABOUT THE</a:t>
            </a:r>
            <a:br>
              <a:rPr lang="en" sz="6800" dirty="0">
                <a:solidFill>
                  <a:schemeClr val="accent1"/>
                </a:solidFill>
              </a:rPr>
            </a:br>
            <a:r>
              <a:rPr lang="en" sz="6800" dirty="0">
                <a:solidFill>
                  <a:schemeClr val="accent1"/>
                </a:solidFill>
              </a:rPr>
              <a:t>PROJECT</a:t>
            </a:r>
            <a:endParaRPr sz="5800" dirty="0"/>
          </a:p>
        </p:txBody>
      </p:sp>
      <p:sp>
        <p:nvSpPr>
          <p:cNvPr id="412" name="Google Shape;412;p25"/>
          <p:cNvSpPr/>
          <p:nvPr/>
        </p:nvSpPr>
        <p:spPr>
          <a:xfrm>
            <a:off x="1663550" y="2130577"/>
            <a:ext cx="1627849" cy="14860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accent1"/>
                </a:solidFill>
                <a:latin typeface="Roboto Mono"/>
              </a:rPr>
              <a:t>01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>
            <a:spLocks noGrp="1"/>
          </p:cNvSpPr>
          <p:nvPr>
            <p:ph type="title"/>
          </p:nvPr>
        </p:nvSpPr>
        <p:spPr>
          <a:xfrm>
            <a:off x="1201000" y="1085369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</a:t>
            </a:r>
            <a:r>
              <a:rPr lang="en" sz="6000" dirty="0">
                <a:solidFill>
                  <a:schemeClr val="accent3"/>
                </a:solidFill>
              </a:rPr>
              <a:t>CONTEXT</a:t>
            </a:r>
            <a:endParaRPr sz="6000" dirty="0">
              <a:solidFill>
                <a:schemeClr val="accent3"/>
              </a:solidFill>
            </a:endParaRPr>
          </a:p>
        </p:txBody>
      </p:sp>
      <p:sp>
        <p:nvSpPr>
          <p:cNvPr id="418" name="Google Shape;418;p26"/>
          <p:cNvSpPr txBox="1">
            <a:spLocks noGrp="1"/>
          </p:cNvSpPr>
          <p:nvPr>
            <p:ph type="subTitle" idx="1"/>
          </p:nvPr>
        </p:nvSpPr>
        <p:spPr>
          <a:xfrm>
            <a:off x="1201000" y="2181929"/>
            <a:ext cx="77940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b="0" dirty="0">
                <a:solidFill>
                  <a:schemeClr val="accent3"/>
                </a:solidFill>
              </a:rPr>
              <a:t>&lt;p&gt;</a:t>
            </a:r>
            <a:r>
              <a:rPr lang="en" b="0" dirty="0"/>
              <a:t> </a:t>
            </a:r>
            <a:r>
              <a:rPr lang="en" b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PROBLEMS</a:t>
            </a:r>
            <a:r>
              <a:rPr lang="en" b="0" dirty="0"/>
              <a:t>: </a:t>
            </a:r>
            <a:r>
              <a:rPr lang="en" b="0" dirty="0">
                <a:solidFill>
                  <a:schemeClr val="accent3"/>
                </a:solidFill>
              </a:rPr>
              <a:t>&lt;/p&gt;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419" name="Google Shape;419;p26"/>
          <p:cNvSpPr txBox="1">
            <a:spLocks noGrp="1"/>
          </p:cNvSpPr>
          <p:nvPr>
            <p:ph type="body" idx="2"/>
          </p:nvPr>
        </p:nvSpPr>
        <p:spPr>
          <a:xfrm>
            <a:off x="1201000" y="2619829"/>
            <a:ext cx="8865600" cy="117109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Lack</a:t>
            </a:r>
            <a:r>
              <a:rPr lang="en-US" dirty="0"/>
              <a:t> of </a:t>
            </a:r>
            <a:r>
              <a:rPr lang="en-US" dirty="0">
                <a:solidFill>
                  <a:schemeClr val="accent3"/>
                </a:solidFill>
              </a:rPr>
              <a:t>proper scheduling management</a:t>
            </a:r>
            <a:r>
              <a:rPr lang="en-US" dirty="0"/>
              <a:t> in the institution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Schedule </a:t>
            </a:r>
            <a:r>
              <a:rPr lang="en-US" dirty="0">
                <a:solidFill>
                  <a:schemeClr val="accent3"/>
                </a:solidFill>
              </a:rPr>
              <a:t>conflict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Lack</a:t>
            </a:r>
            <a:r>
              <a:rPr lang="en-US" dirty="0"/>
              <a:t> of </a:t>
            </a:r>
            <a:r>
              <a:rPr lang="en-US" dirty="0">
                <a:solidFill>
                  <a:schemeClr val="accent3"/>
                </a:solidFill>
              </a:rPr>
              <a:t>productivity</a:t>
            </a:r>
            <a:r>
              <a:rPr lang="en-US" dirty="0"/>
              <a:t> due to improper scheduling</a:t>
            </a:r>
          </a:p>
        </p:txBody>
      </p:sp>
      <p:sp>
        <p:nvSpPr>
          <p:cNvPr id="2" name="Google Shape;418;p26">
            <a:extLst>
              <a:ext uri="{FF2B5EF4-FFF2-40B4-BE49-F238E27FC236}">
                <a16:creationId xmlns:a16="http://schemas.microsoft.com/office/drawing/2014/main" id="{72792E0F-55C4-2AA2-CFC8-5755E0C433CB}"/>
              </a:ext>
            </a:extLst>
          </p:cNvPr>
          <p:cNvSpPr txBox="1">
            <a:spLocks/>
          </p:cNvSpPr>
          <p:nvPr/>
        </p:nvSpPr>
        <p:spPr>
          <a:xfrm>
            <a:off x="1201000" y="3797305"/>
            <a:ext cx="7794000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2100"/>
              <a:buFont typeface="Roboto Mono"/>
              <a:buNone/>
              <a:defRPr sz="2100" b="1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spcAft>
                <a:spcPts val="2100"/>
              </a:spcAft>
            </a:pPr>
            <a:r>
              <a:rPr lang="en-US" b="0" dirty="0">
                <a:solidFill>
                  <a:schemeClr val="accent1"/>
                </a:solidFill>
              </a:rPr>
              <a:t>&lt;p&gt;</a:t>
            </a:r>
            <a:r>
              <a:rPr lang="en-US" b="0" dirty="0"/>
              <a:t> </a:t>
            </a:r>
            <a:r>
              <a:rPr lang="en-US" b="0" dirty="0">
                <a:solidFill>
                  <a:schemeClr val="accent1"/>
                </a:solidFill>
              </a:rPr>
              <a:t>IMPORTANCE</a:t>
            </a:r>
            <a:r>
              <a:rPr lang="en-US" b="0" dirty="0"/>
              <a:t> AND </a:t>
            </a:r>
            <a:r>
              <a:rPr lang="en-US" b="0" dirty="0">
                <a:solidFill>
                  <a:schemeClr val="accent1"/>
                </a:solidFill>
              </a:rPr>
              <a:t>BENEFITS</a:t>
            </a:r>
            <a:r>
              <a:rPr lang="en-US" b="0" dirty="0"/>
              <a:t>: </a:t>
            </a:r>
            <a:r>
              <a:rPr lang="en-US" b="0" dirty="0">
                <a:solidFill>
                  <a:schemeClr val="accent1"/>
                </a:solidFill>
              </a:rPr>
              <a:t>&lt;/p&gt;</a:t>
            </a:r>
          </a:p>
        </p:txBody>
      </p:sp>
      <p:sp>
        <p:nvSpPr>
          <p:cNvPr id="3" name="Google Shape;419;p26">
            <a:extLst>
              <a:ext uri="{FF2B5EF4-FFF2-40B4-BE49-F238E27FC236}">
                <a16:creationId xmlns:a16="http://schemas.microsoft.com/office/drawing/2014/main" id="{7F812A73-C522-2E2D-F6B0-B836B0BE035C}"/>
              </a:ext>
            </a:extLst>
          </p:cNvPr>
          <p:cNvSpPr txBox="1">
            <a:spLocks/>
          </p:cNvSpPr>
          <p:nvPr/>
        </p:nvSpPr>
        <p:spPr>
          <a:xfrm>
            <a:off x="1201000" y="4248235"/>
            <a:ext cx="8865600" cy="1171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dirty="0"/>
              <a:t>For </a:t>
            </a:r>
            <a:r>
              <a:rPr lang="en-US" dirty="0">
                <a:solidFill>
                  <a:schemeClr val="accent1"/>
                </a:solidFill>
              </a:rPr>
              <a:t>Students</a:t>
            </a:r>
          </a:p>
          <a:p>
            <a:pPr marL="285750" indent="-285750">
              <a:buFontTx/>
              <a:buChar char="-"/>
            </a:pPr>
            <a:r>
              <a:rPr lang="en-US" dirty="0"/>
              <a:t>For </a:t>
            </a:r>
            <a:r>
              <a:rPr lang="en-US" dirty="0">
                <a:solidFill>
                  <a:schemeClr val="accent1"/>
                </a:solidFill>
              </a:rPr>
              <a:t>Teachers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For the </a:t>
            </a:r>
            <a:r>
              <a:rPr lang="en-US" dirty="0">
                <a:solidFill>
                  <a:schemeClr val="accent1"/>
                </a:solidFill>
              </a:rPr>
              <a:t>School Institution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"/>
          <p:cNvSpPr txBox="1">
            <a:spLocks noGrp="1"/>
          </p:cNvSpPr>
          <p:nvPr>
            <p:ph type="title"/>
          </p:nvPr>
        </p:nvSpPr>
        <p:spPr>
          <a:xfrm>
            <a:off x="994425" y="361575"/>
            <a:ext cx="10110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SYSTEM’S </a:t>
            </a:r>
            <a:r>
              <a:rPr lang="en" sz="6000" dirty="0">
                <a:solidFill>
                  <a:schemeClr val="accent1"/>
                </a:solidFill>
              </a:rPr>
              <a:t>OBJECTIVES:</a:t>
            </a:r>
            <a:endParaRPr sz="6000" dirty="0">
              <a:solidFill>
                <a:schemeClr val="accent1"/>
              </a:solidFill>
            </a:endParaRPr>
          </a:p>
        </p:txBody>
      </p:sp>
      <p:sp>
        <p:nvSpPr>
          <p:cNvPr id="426" name="Google Shape;426;p27"/>
          <p:cNvSpPr txBox="1">
            <a:spLocks noGrp="1"/>
          </p:cNvSpPr>
          <p:nvPr>
            <p:ph type="body" idx="1"/>
          </p:nvPr>
        </p:nvSpPr>
        <p:spPr>
          <a:xfrm>
            <a:off x="1358325" y="2238545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Design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dirty="0">
                <a:solidFill>
                  <a:schemeClr val="accent1"/>
                </a:solidFill>
              </a:rPr>
              <a:t>implement </a:t>
            </a:r>
            <a:r>
              <a:rPr lang="en-US" dirty="0">
                <a:solidFill>
                  <a:schemeClr val="tx1"/>
                </a:solidFill>
              </a:rPr>
              <a:t>a user-friendly and efficient desktop application </a:t>
            </a:r>
          </a:p>
          <a:p>
            <a:pPr marL="0" lvl="0" indent="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Improve </a:t>
            </a:r>
            <a:r>
              <a:rPr lang="en-US" dirty="0">
                <a:solidFill>
                  <a:schemeClr val="tx1"/>
                </a:solidFill>
              </a:rPr>
              <a:t>data accuracy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93B18-7956-A3D0-D550-DE99DBC353C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79275" y="1983712"/>
            <a:ext cx="4154400" cy="3590100"/>
          </a:xfrm>
        </p:spPr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Enhance</a:t>
            </a:r>
            <a:r>
              <a:rPr lang="en-US" dirty="0"/>
              <a:t> the current class schedule management process</a:t>
            </a:r>
          </a:p>
          <a:p>
            <a:pPr marL="0" lvl="0" indent="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Facilitate</a:t>
            </a:r>
            <a:r>
              <a:rPr lang="en-US" dirty="0"/>
              <a:t> effective communication</a:t>
            </a:r>
          </a:p>
          <a:p>
            <a:pPr marL="114300" indent="0">
              <a:buNone/>
            </a:pPr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7362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2"/>
                </a:solidFill>
              </a:rPr>
              <a:t>SCOPE</a:t>
            </a:r>
            <a:r>
              <a:rPr lang="en" dirty="0"/>
              <a:t> AND </a:t>
            </a:r>
            <a:r>
              <a:rPr lang="en" sz="6000" dirty="0">
                <a:solidFill>
                  <a:schemeClr val="accent2"/>
                </a:solidFill>
              </a:rPr>
              <a:t>LIMITATION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&lt;p&gt; Setting:</a:t>
            </a:r>
            <a:r>
              <a:rPr lang="en" dirty="0"/>
              <a:t> </a:t>
            </a:r>
            <a:r>
              <a:rPr lang="en" dirty="0">
                <a:solidFill>
                  <a:schemeClr val="accent3"/>
                </a:solidFill>
              </a:rPr>
              <a:t>&lt;/p&gt;</a:t>
            </a:r>
            <a:endParaRPr dirty="0"/>
          </a:p>
        </p:txBody>
      </p:sp>
      <p:sp>
        <p:nvSpPr>
          <p:cNvPr id="442" name="Google Shape;442;p29"/>
          <p:cNvSpPr txBox="1">
            <a:spLocks noGrp="1"/>
          </p:cNvSpPr>
          <p:nvPr>
            <p:ph type="body" idx="5"/>
          </p:nvPr>
        </p:nvSpPr>
        <p:spPr>
          <a:xfrm>
            <a:off x="1217550" y="2920686"/>
            <a:ext cx="9755100" cy="5588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Selected </a:t>
            </a:r>
            <a:r>
              <a:rPr lang="en-US" dirty="0">
                <a:solidFill>
                  <a:schemeClr val="accent2"/>
                </a:solidFill>
              </a:rPr>
              <a:t>MSU-MSHS Faculties</a:t>
            </a:r>
            <a:r>
              <a:rPr lang="en-US" dirty="0"/>
              <a:t> and </a:t>
            </a:r>
            <a:r>
              <a:rPr lang="en-US" dirty="0">
                <a:solidFill>
                  <a:schemeClr val="accent2"/>
                </a:solidFill>
              </a:rPr>
              <a:t>Students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217558" y="2494168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&lt;p&gt; </a:t>
            </a:r>
            <a:r>
              <a:rPr lang="en" dirty="0"/>
              <a:t>Respondents / </a:t>
            </a:r>
            <a:r>
              <a:rPr lang="en" dirty="0">
                <a:solidFill>
                  <a:schemeClr val="accent2"/>
                </a:solidFill>
              </a:rPr>
              <a:t>Participants:</a:t>
            </a:r>
            <a:r>
              <a:rPr lang="en" dirty="0"/>
              <a:t> </a:t>
            </a:r>
            <a:r>
              <a:rPr lang="en" dirty="0">
                <a:solidFill>
                  <a:schemeClr val="accent2"/>
                </a:solidFill>
              </a:rPr>
              <a:t>&lt;/p&gt;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4" name="Google Shape;444;p29"/>
          <p:cNvSpPr txBox="1">
            <a:spLocks noGrp="1"/>
          </p:cNvSpPr>
          <p:nvPr>
            <p:ph type="body" idx="6"/>
          </p:nvPr>
        </p:nvSpPr>
        <p:spPr>
          <a:xfrm>
            <a:off x="1215750" y="3724423"/>
            <a:ext cx="9756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The system will have three users namely; the </a:t>
            </a:r>
            <a:r>
              <a:rPr lang="en-US" dirty="0">
                <a:solidFill>
                  <a:schemeClr val="accent1"/>
                </a:solidFill>
              </a:rPr>
              <a:t>administrators</a:t>
            </a:r>
            <a:r>
              <a:rPr lang="en-US" dirty="0"/>
              <a:t>(admin), the </a:t>
            </a:r>
            <a:r>
              <a:rPr lang="en-US" dirty="0">
                <a:solidFill>
                  <a:schemeClr val="accent1"/>
                </a:solidFill>
              </a:rPr>
              <a:t>teachers</a:t>
            </a:r>
            <a:r>
              <a:rPr lang="en-US" dirty="0"/>
              <a:t>, and the </a:t>
            </a:r>
            <a:r>
              <a:rPr lang="en-US" dirty="0">
                <a:solidFill>
                  <a:schemeClr val="accent1"/>
                </a:solidFill>
              </a:rPr>
              <a:t>students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Only the administrators have access to </a:t>
            </a:r>
            <a:r>
              <a:rPr lang="en-US" dirty="0">
                <a:solidFill>
                  <a:schemeClr val="accent1"/>
                </a:solidFill>
              </a:rPr>
              <a:t>add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dirty="0">
                <a:solidFill>
                  <a:schemeClr val="accent1"/>
                </a:solidFill>
              </a:rPr>
              <a:t> edit</a:t>
            </a:r>
            <a:r>
              <a:rPr lang="en-US" dirty="0"/>
              <a:t> or </a:t>
            </a:r>
            <a:r>
              <a:rPr lang="en-US" dirty="0">
                <a:solidFill>
                  <a:schemeClr val="accent1"/>
                </a:solidFill>
              </a:rPr>
              <a:t>delete</a:t>
            </a:r>
            <a:r>
              <a:rPr lang="en-US" dirty="0"/>
              <a:t> the schedules and events.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The teacher can </a:t>
            </a:r>
            <a:r>
              <a:rPr lang="en-US" dirty="0">
                <a:solidFill>
                  <a:schemeClr val="accent1"/>
                </a:solidFill>
              </a:rPr>
              <a:t>view</a:t>
            </a:r>
            <a:r>
              <a:rPr lang="en-US" dirty="0"/>
              <a:t> schedules &amp; events, </a:t>
            </a:r>
            <a:r>
              <a:rPr lang="en-US" dirty="0">
                <a:solidFill>
                  <a:schemeClr val="accent1"/>
                </a:solidFill>
              </a:rPr>
              <a:t>view</a:t>
            </a:r>
            <a:r>
              <a:rPr lang="en-US" dirty="0"/>
              <a:t> students’ info and </a:t>
            </a:r>
            <a:r>
              <a:rPr lang="en-US" dirty="0">
                <a:solidFill>
                  <a:schemeClr val="accent1"/>
                </a:solidFill>
              </a:rPr>
              <a:t>message</a:t>
            </a:r>
            <a:r>
              <a:rPr lang="en-US" dirty="0"/>
              <a:t> users.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students can also </a:t>
            </a:r>
            <a:r>
              <a:rPr lang="en-US" dirty="0">
                <a:solidFill>
                  <a:schemeClr val="accent1"/>
                </a:solidFill>
              </a:rPr>
              <a:t>view</a:t>
            </a:r>
            <a:r>
              <a:rPr lang="en-US" dirty="0"/>
              <a:t> schedules &amp; events and </a:t>
            </a:r>
            <a:r>
              <a:rPr lang="en-US" dirty="0">
                <a:solidFill>
                  <a:schemeClr val="accent1"/>
                </a:solidFill>
              </a:rPr>
              <a:t>message</a:t>
            </a:r>
            <a:r>
              <a:rPr lang="en-US" dirty="0"/>
              <a:t> users but can only </a:t>
            </a:r>
            <a:r>
              <a:rPr lang="en-US" dirty="0">
                <a:solidFill>
                  <a:schemeClr val="accent1"/>
                </a:solidFill>
              </a:rPr>
              <a:t>view</a:t>
            </a:r>
            <a:r>
              <a:rPr lang="en-US" dirty="0"/>
              <a:t> teachers’ info.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This project will </a:t>
            </a:r>
            <a:r>
              <a:rPr lang="en-US" dirty="0">
                <a:solidFill>
                  <a:schemeClr val="accent1"/>
                </a:solidFill>
              </a:rPr>
              <a:t>not cover</a:t>
            </a:r>
            <a:r>
              <a:rPr lang="en-US" dirty="0"/>
              <a:t> any factors not in relation with the problem and goal of the project.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dirty="0"/>
          </a:p>
        </p:txBody>
      </p:sp>
      <p:sp>
        <p:nvSpPr>
          <p:cNvPr id="445" name="Google Shape;445;p29"/>
          <p:cNvSpPr txBox="1">
            <a:spLocks noGrp="1"/>
          </p:cNvSpPr>
          <p:nvPr>
            <p:ph type="subTitle" idx="3"/>
          </p:nvPr>
        </p:nvSpPr>
        <p:spPr>
          <a:xfrm>
            <a:off x="1215758" y="3311135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&lt;p&gt;</a:t>
            </a:r>
            <a:r>
              <a:rPr lang="en" dirty="0">
                <a:solidFill>
                  <a:schemeClr val="accent3"/>
                </a:solidFill>
              </a:rPr>
              <a:t> </a:t>
            </a:r>
            <a:r>
              <a:rPr lang="en" dirty="0">
                <a:solidFill>
                  <a:schemeClr val="accent1"/>
                </a:solidFill>
              </a:rPr>
              <a:t>System</a:t>
            </a:r>
            <a:r>
              <a:rPr lang="en" dirty="0"/>
              <a:t> Limitations: </a:t>
            </a:r>
            <a:r>
              <a:rPr lang="en" dirty="0">
                <a:solidFill>
                  <a:schemeClr val="accent1"/>
                </a:solidFill>
              </a:rPr>
              <a:t>&lt;/p&gt;</a:t>
            </a:r>
            <a:endParaRPr dirty="0"/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8450" y="2167780"/>
            <a:ext cx="9755100" cy="5588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dirty="0"/>
              <a:t>- </a:t>
            </a:r>
            <a:r>
              <a:rPr lang="en-US" dirty="0">
                <a:solidFill>
                  <a:schemeClr val="accent3"/>
                </a:solidFill>
              </a:rPr>
              <a:t>MSU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en-US" dirty="0">
                <a:solidFill>
                  <a:schemeClr val="accent3"/>
                </a:solidFill>
              </a:rPr>
              <a:t>Marawi Senior High School</a:t>
            </a:r>
            <a:endParaRPr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3"/>
          <p:cNvSpPr/>
          <p:nvPr/>
        </p:nvSpPr>
        <p:spPr>
          <a:xfrm>
            <a:off x="627600" y="868575"/>
            <a:ext cx="7272300" cy="50331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3"/>
          <p:cNvSpPr txBox="1">
            <a:spLocks noGrp="1"/>
          </p:cNvSpPr>
          <p:nvPr>
            <p:ph type="title" idx="4294967295"/>
          </p:nvPr>
        </p:nvSpPr>
        <p:spPr>
          <a:xfrm>
            <a:off x="806850" y="1277250"/>
            <a:ext cx="5912700" cy="200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 dirty="0"/>
              <a:t>EXISTING </a:t>
            </a:r>
            <a:r>
              <a:rPr lang="en" sz="7700" dirty="0">
                <a:solidFill>
                  <a:schemeClr val="accent2"/>
                </a:solidFill>
              </a:rPr>
              <a:t>WORKFLOW</a:t>
            </a:r>
            <a:endParaRPr sz="7700" dirty="0">
              <a:solidFill>
                <a:schemeClr val="accent2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5700" dirty="0"/>
          </a:p>
        </p:txBody>
      </p:sp>
      <p:sp>
        <p:nvSpPr>
          <p:cNvPr id="482" name="Google Shape;482;p33"/>
          <p:cNvSpPr txBox="1">
            <a:spLocks noGrp="1"/>
          </p:cNvSpPr>
          <p:nvPr>
            <p:ph type="body" idx="4294967295"/>
          </p:nvPr>
        </p:nvSpPr>
        <p:spPr>
          <a:xfrm>
            <a:off x="1143500" y="3257662"/>
            <a:ext cx="3384957" cy="144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figure on the right presents the </a:t>
            </a:r>
            <a:r>
              <a:rPr lang="en-US" dirty="0">
                <a:solidFill>
                  <a:schemeClr val="accent2"/>
                </a:solidFill>
              </a:rPr>
              <a:t>existing workflow</a:t>
            </a:r>
            <a:r>
              <a:rPr lang="en-US" dirty="0"/>
              <a:t> of the </a:t>
            </a:r>
            <a:r>
              <a:rPr lang="en-US" dirty="0">
                <a:solidFill>
                  <a:schemeClr val="accent2"/>
                </a:solidFill>
              </a:rPr>
              <a:t>class scheduling management</a:t>
            </a:r>
            <a:r>
              <a:rPr lang="en-US" dirty="0"/>
              <a:t> in MSU – MSHS.</a:t>
            </a:r>
            <a:endParaRPr dirty="0"/>
          </a:p>
        </p:txBody>
      </p:sp>
      <p:pic>
        <p:nvPicPr>
          <p:cNvPr id="483" name="Google Shape;483;p33"/>
          <p:cNvPicPr preferRelativeResize="0"/>
          <p:nvPr/>
        </p:nvPicPr>
        <p:blipFill rotWithShape="1">
          <a:blip r:embed="rId3"/>
          <a:srcRect l="808" t="-293" r="2302" b="340"/>
          <a:stretch/>
        </p:blipFill>
        <p:spPr>
          <a:xfrm>
            <a:off x="5044357" y="3025628"/>
            <a:ext cx="6715601" cy="3506400"/>
          </a:xfrm>
          <a:prstGeom prst="roundRect">
            <a:avLst>
              <a:gd name="adj" fmla="val 4729"/>
            </a:avLst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</p:pic>
      <p:grpSp>
        <p:nvGrpSpPr>
          <p:cNvPr id="484" name="Google Shape;484;p33"/>
          <p:cNvGrpSpPr/>
          <p:nvPr/>
        </p:nvGrpSpPr>
        <p:grpSpPr>
          <a:xfrm>
            <a:off x="5181504" y="3110062"/>
            <a:ext cx="635280" cy="147600"/>
            <a:chOff x="2147366" y="4139382"/>
            <a:chExt cx="635280" cy="147600"/>
          </a:xfrm>
        </p:grpSpPr>
        <p:sp>
          <p:nvSpPr>
            <p:cNvPr id="485" name="Google Shape;485;p3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8" name="Google Shape;488;p33"/>
          <p:cNvGrpSpPr/>
          <p:nvPr/>
        </p:nvGrpSpPr>
        <p:grpSpPr>
          <a:xfrm>
            <a:off x="780846" y="978684"/>
            <a:ext cx="635280" cy="147600"/>
            <a:chOff x="2147366" y="4139382"/>
            <a:chExt cx="635280" cy="147600"/>
          </a:xfrm>
        </p:grpSpPr>
        <p:sp>
          <p:nvSpPr>
            <p:cNvPr id="489" name="Google Shape;489;p3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3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3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4"/>
          <p:cNvSpPr/>
          <p:nvPr/>
        </p:nvSpPr>
        <p:spPr>
          <a:xfrm>
            <a:off x="316800" y="194225"/>
            <a:ext cx="11648700" cy="6398100"/>
          </a:xfrm>
          <a:prstGeom prst="roundRect">
            <a:avLst>
              <a:gd name="adj" fmla="val 2468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34"/>
          <p:cNvPicPr preferRelativeResize="0"/>
          <p:nvPr/>
        </p:nvPicPr>
        <p:blipFill rotWithShape="1">
          <a:blip r:embed="rId3"/>
          <a:srcRect l="-2599" t="-5254" r="-2364" b="-4759"/>
          <a:stretch/>
        </p:blipFill>
        <p:spPr>
          <a:xfrm>
            <a:off x="901677" y="1521543"/>
            <a:ext cx="10390438" cy="4787190"/>
          </a:xfrm>
          <a:prstGeom prst="roundRect">
            <a:avLst>
              <a:gd name="adj" fmla="val 3224"/>
            </a:avLst>
          </a:prstGeom>
          <a:noFill/>
          <a:ln w="76200">
            <a:solidFill>
              <a:schemeClr val="tx1"/>
            </a:solidFill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</p:pic>
      <p:sp>
        <p:nvSpPr>
          <p:cNvPr id="498" name="Google Shape;498;p34"/>
          <p:cNvSpPr txBox="1">
            <a:spLocks noGrp="1"/>
          </p:cNvSpPr>
          <p:nvPr>
            <p:ph type="title" idx="4294967295"/>
          </p:nvPr>
        </p:nvSpPr>
        <p:spPr>
          <a:xfrm>
            <a:off x="657836" y="549267"/>
            <a:ext cx="9197364" cy="97227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/>
              <a:t>WORKFLOW</a:t>
            </a:r>
            <a:r>
              <a:rPr lang="en" sz="6500" dirty="0"/>
              <a:t> </a:t>
            </a:r>
            <a:r>
              <a:rPr lang="en" sz="6000" dirty="0">
                <a:solidFill>
                  <a:schemeClr val="accent3"/>
                </a:solidFill>
              </a:rPr>
              <a:t>RESOLUTION</a:t>
            </a:r>
            <a:endParaRPr sz="6000" dirty="0"/>
          </a:p>
        </p:txBody>
      </p:sp>
      <p:grpSp>
        <p:nvGrpSpPr>
          <p:cNvPr id="500" name="Google Shape;500;p34"/>
          <p:cNvGrpSpPr/>
          <p:nvPr/>
        </p:nvGrpSpPr>
        <p:grpSpPr>
          <a:xfrm>
            <a:off x="1049276" y="1613476"/>
            <a:ext cx="635280" cy="147600"/>
            <a:chOff x="2147366" y="4139382"/>
            <a:chExt cx="635280" cy="147600"/>
          </a:xfrm>
        </p:grpSpPr>
        <p:sp>
          <p:nvSpPr>
            <p:cNvPr id="501" name="Google Shape;501;p34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34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4" name="Google Shape;504;p34"/>
          <p:cNvGrpSpPr/>
          <p:nvPr/>
        </p:nvGrpSpPr>
        <p:grpSpPr>
          <a:xfrm>
            <a:off x="413996" y="309734"/>
            <a:ext cx="635280" cy="147600"/>
            <a:chOff x="2147366" y="4139382"/>
            <a:chExt cx="635280" cy="147600"/>
          </a:xfrm>
        </p:grpSpPr>
        <p:sp>
          <p:nvSpPr>
            <p:cNvPr id="505" name="Google Shape;505;p34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34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7"/>
          <p:cNvSpPr txBox="1">
            <a:spLocks noGrp="1"/>
          </p:cNvSpPr>
          <p:nvPr>
            <p:ph type="title"/>
          </p:nvPr>
        </p:nvSpPr>
        <p:spPr>
          <a:xfrm>
            <a:off x="720400" y="364775"/>
            <a:ext cx="1091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</a:t>
            </a:r>
            <a:r>
              <a:rPr lang="en" sz="6000" dirty="0">
                <a:solidFill>
                  <a:schemeClr val="accent3"/>
                </a:solidFill>
              </a:rPr>
              <a:t>TIMELINE</a:t>
            </a:r>
            <a:endParaRPr sz="6000" dirty="0">
              <a:solidFill>
                <a:schemeClr val="accent3"/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64DD09A-665E-B79F-D660-BD34104CE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817098"/>
              </p:ext>
            </p:extLst>
          </p:nvPr>
        </p:nvGraphicFramePr>
        <p:xfrm>
          <a:off x="1030515" y="2251485"/>
          <a:ext cx="10130970" cy="3741263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881002">
                  <a:extLst>
                    <a:ext uri="{9D8B030D-6E8A-4147-A177-3AD203B41FA5}">
                      <a16:colId xmlns:a16="http://schemas.microsoft.com/office/drawing/2014/main" val="3300643366"/>
                    </a:ext>
                  </a:extLst>
                </a:gridCol>
                <a:gridCol w="1331654">
                  <a:extLst>
                    <a:ext uri="{9D8B030D-6E8A-4147-A177-3AD203B41FA5}">
                      <a16:colId xmlns:a16="http://schemas.microsoft.com/office/drawing/2014/main" val="593918699"/>
                    </a:ext>
                  </a:extLst>
                </a:gridCol>
                <a:gridCol w="1303481">
                  <a:extLst>
                    <a:ext uri="{9D8B030D-6E8A-4147-A177-3AD203B41FA5}">
                      <a16:colId xmlns:a16="http://schemas.microsoft.com/office/drawing/2014/main" val="2764255562"/>
                    </a:ext>
                  </a:extLst>
                </a:gridCol>
                <a:gridCol w="1143120">
                  <a:extLst>
                    <a:ext uri="{9D8B030D-6E8A-4147-A177-3AD203B41FA5}">
                      <a16:colId xmlns:a16="http://schemas.microsoft.com/office/drawing/2014/main" val="4145026280"/>
                    </a:ext>
                  </a:extLst>
                </a:gridCol>
                <a:gridCol w="1204881">
                  <a:extLst>
                    <a:ext uri="{9D8B030D-6E8A-4147-A177-3AD203B41FA5}">
                      <a16:colId xmlns:a16="http://schemas.microsoft.com/office/drawing/2014/main" val="2963705562"/>
                    </a:ext>
                  </a:extLst>
                </a:gridCol>
                <a:gridCol w="1088944">
                  <a:extLst>
                    <a:ext uri="{9D8B030D-6E8A-4147-A177-3AD203B41FA5}">
                      <a16:colId xmlns:a16="http://schemas.microsoft.com/office/drawing/2014/main" val="3277666929"/>
                    </a:ext>
                  </a:extLst>
                </a:gridCol>
                <a:gridCol w="1088944">
                  <a:extLst>
                    <a:ext uri="{9D8B030D-6E8A-4147-A177-3AD203B41FA5}">
                      <a16:colId xmlns:a16="http://schemas.microsoft.com/office/drawing/2014/main" val="758792722"/>
                    </a:ext>
                  </a:extLst>
                </a:gridCol>
                <a:gridCol w="1088944">
                  <a:extLst>
                    <a:ext uri="{9D8B030D-6E8A-4147-A177-3AD203B41FA5}">
                      <a16:colId xmlns:a16="http://schemas.microsoft.com/office/drawing/2014/main" val="3846576842"/>
                    </a:ext>
                  </a:extLst>
                </a:gridCol>
              </a:tblGrid>
              <a:tr h="9183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Month 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November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Month 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2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December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Month 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January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Month 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February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Month 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March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Month 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April 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Month 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May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990510"/>
                  </a:ext>
                </a:extLst>
              </a:tr>
              <a:tr h="4516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Requirement Planning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504095"/>
                  </a:ext>
                </a:extLst>
              </a:tr>
              <a:tr h="4516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Requirement Analysis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75949"/>
                  </a:ext>
                </a:extLst>
              </a:tr>
              <a:tr h="3564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Prototyping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459613"/>
                  </a:ext>
                </a:extLst>
              </a:tr>
              <a:tr h="3564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Coding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052431"/>
                  </a:ext>
                </a:extLst>
              </a:tr>
              <a:tr h="3564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Designing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771984"/>
                  </a:ext>
                </a:extLst>
              </a:tr>
              <a:tr h="3564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Testing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668625"/>
                  </a:ext>
                </a:extLst>
              </a:tr>
              <a:tr h="4516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Implementation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Roboto Mono" panose="020B060402020202020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Roboto Mono" panose="020B06040202020202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FD8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7369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3"/>
          <p:cNvSpPr/>
          <p:nvPr/>
        </p:nvSpPr>
        <p:spPr>
          <a:xfrm>
            <a:off x="4081000" y="393700"/>
            <a:ext cx="7272300" cy="50331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3"/>
          <p:cNvSpPr txBox="1">
            <a:spLocks noGrp="1"/>
          </p:cNvSpPr>
          <p:nvPr>
            <p:ph type="title" idx="4294967295"/>
          </p:nvPr>
        </p:nvSpPr>
        <p:spPr>
          <a:xfrm>
            <a:off x="4932387" y="736376"/>
            <a:ext cx="5912700" cy="200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 dirty="0"/>
              <a:t>CASE </a:t>
            </a:r>
            <a:r>
              <a:rPr lang="en" sz="7700" dirty="0">
                <a:solidFill>
                  <a:schemeClr val="accent2"/>
                </a:solidFill>
              </a:rPr>
              <a:t>DIAGRAM</a:t>
            </a:r>
            <a:endParaRPr sz="7700" dirty="0">
              <a:solidFill>
                <a:schemeClr val="accent2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5700" dirty="0"/>
          </a:p>
        </p:txBody>
      </p:sp>
      <p:pic>
        <p:nvPicPr>
          <p:cNvPr id="483" name="Google Shape;483;p33"/>
          <p:cNvPicPr preferRelativeResize="0"/>
          <p:nvPr/>
        </p:nvPicPr>
        <p:blipFill rotWithShape="1">
          <a:blip r:embed="rId3"/>
          <a:srcRect t="-4985" r="1577" b="746"/>
          <a:stretch/>
        </p:blipFill>
        <p:spPr>
          <a:xfrm>
            <a:off x="561034" y="1940698"/>
            <a:ext cx="7272300" cy="4523602"/>
          </a:xfrm>
          <a:prstGeom prst="roundRect">
            <a:avLst>
              <a:gd name="adj" fmla="val 4729"/>
            </a:avLst>
          </a:prstGeom>
          <a:noFill/>
          <a:ln w="38100">
            <a:solidFill>
              <a:schemeClr val="tx1"/>
            </a:solidFill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</p:pic>
      <p:grpSp>
        <p:nvGrpSpPr>
          <p:cNvPr id="484" name="Google Shape;484;p33"/>
          <p:cNvGrpSpPr/>
          <p:nvPr/>
        </p:nvGrpSpPr>
        <p:grpSpPr>
          <a:xfrm>
            <a:off x="711633" y="2051428"/>
            <a:ext cx="635280" cy="147600"/>
            <a:chOff x="2147366" y="4139382"/>
            <a:chExt cx="635280" cy="147600"/>
          </a:xfrm>
        </p:grpSpPr>
        <p:sp>
          <p:nvSpPr>
            <p:cNvPr id="485" name="Google Shape;485;p3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8" name="Google Shape;488;p33"/>
          <p:cNvGrpSpPr/>
          <p:nvPr/>
        </p:nvGrpSpPr>
        <p:grpSpPr>
          <a:xfrm>
            <a:off x="4297107" y="491238"/>
            <a:ext cx="635280" cy="147600"/>
            <a:chOff x="2147366" y="4139382"/>
            <a:chExt cx="635280" cy="147600"/>
          </a:xfrm>
        </p:grpSpPr>
        <p:sp>
          <p:nvSpPr>
            <p:cNvPr id="489" name="Google Shape;489;p3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3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3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72912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3"/>
          <p:cNvSpPr/>
          <p:nvPr/>
        </p:nvSpPr>
        <p:spPr>
          <a:xfrm>
            <a:off x="474354" y="868575"/>
            <a:ext cx="5468400" cy="50331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3"/>
          <p:cNvSpPr txBox="1">
            <a:spLocks noGrp="1"/>
          </p:cNvSpPr>
          <p:nvPr>
            <p:ph type="title" idx="4294967295"/>
          </p:nvPr>
        </p:nvSpPr>
        <p:spPr>
          <a:xfrm>
            <a:off x="799422" y="1409700"/>
            <a:ext cx="3935050" cy="86905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CONCLUSION</a:t>
            </a:r>
            <a:endParaRPr dirty="0">
              <a:solidFill>
                <a:schemeClr val="accent2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2" name="Google Shape;482;p33"/>
          <p:cNvSpPr txBox="1">
            <a:spLocks noGrp="1"/>
          </p:cNvSpPr>
          <p:nvPr>
            <p:ph type="body" idx="4294967295"/>
          </p:nvPr>
        </p:nvSpPr>
        <p:spPr>
          <a:xfrm>
            <a:off x="799422" y="2120900"/>
            <a:ext cx="4591114" cy="3263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result is a </a:t>
            </a:r>
            <a:r>
              <a:rPr lang="en-US" dirty="0">
                <a:solidFill>
                  <a:schemeClr val="accent2"/>
                </a:solidFill>
              </a:rPr>
              <a:t>Class Scheduling Management System</a:t>
            </a:r>
            <a:r>
              <a:rPr lang="en-US" dirty="0"/>
              <a:t> that is purpose-built to </a:t>
            </a:r>
            <a:r>
              <a:rPr lang="en-US" dirty="0">
                <a:solidFill>
                  <a:schemeClr val="accent2"/>
                </a:solidFill>
              </a:rPr>
              <a:t>support </a:t>
            </a:r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specific roles</a:t>
            </a:r>
            <a:r>
              <a:rPr lang="en-US" dirty="0"/>
              <a:t> and </a:t>
            </a:r>
            <a:r>
              <a:rPr lang="en-US" dirty="0">
                <a:solidFill>
                  <a:schemeClr val="accent2"/>
                </a:solidFill>
              </a:rPr>
              <a:t>activities</a:t>
            </a:r>
            <a:r>
              <a:rPr lang="en-US" dirty="0"/>
              <a:t> of stakeholders and end-users.</a:t>
            </a:r>
            <a:endParaRPr dirty="0"/>
          </a:p>
        </p:txBody>
      </p:sp>
      <p:grpSp>
        <p:nvGrpSpPr>
          <p:cNvPr id="488" name="Google Shape;488;p33"/>
          <p:cNvGrpSpPr/>
          <p:nvPr/>
        </p:nvGrpSpPr>
        <p:grpSpPr>
          <a:xfrm>
            <a:off x="627600" y="978684"/>
            <a:ext cx="635280" cy="147600"/>
            <a:chOff x="2147366" y="4139382"/>
            <a:chExt cx="635280" cy="147600"/>
          </a:xfrm>
        </p:grpSpPr>
        <p:sp>
          <p:nvSpPr>
            <p:cNvPr id="489" name="Google Shape;489;p3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3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3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480;p33">
            <a:extLst>
              <a:ext uri="{FF2B5EF4-FFF2-40B4-BE49-F238E27FC236}">
                <a16:creationId xmlns:a16="http://schemas.microsoft.com/office/drawing/2014/main" id="{868663C0-1FA3-B780-A58C-D81DC4B97F68}"/>
              </a:ext>
            </a:extLst>
          </p:cNvPr>
          <p:cNvSpPr/>
          <p:nvPr/>
        </p:nvSpPr>
        <p:spPr>
          <a:xfrm>
            <a:off x="6249246" y="868575"/>
            <a:ext cx="5468400" cy="50331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81;p33">
            <a:extLst>
              <a:ext uri="{FF2B5EF4-FFF2-40B4-BE49-F238E27FC236}">
                <a16:creationId xmlns:a16="http://schemas.microsoft.com/office/drawing/2014/main" id="{C83CFB6D-C1CA-1FE0-CC2D-97588CA7FB42}"/>
              </a:ext>
            </a:extLst>
          </p:cNvPr>
          <p:cNvSpPr txBox="1">
            <a:spLocks/>
          </p:cNvSpPr>
          <p:nvPr/>
        </p:nvSpPr>
        <p:spPr>
          <a:xfrm>
            <a:off x="6574314" y="1422400"/>
            <a:ext cx="4919186" cy="86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RECOMMENDATION</a:t>
            </a:r>
          </a:p>
        </p:txBody>
      </p:sp>
      <p:sp>
        <p:nvSpPr>
          <p:cNvPr id="4" name="Google Shape;482;p33">
            <a:extLst>
              <a:ext uri="{FF2B5EF4-FFF2-40B4-BE49-F238E27FC236}">
                <a16:creationId xmlns:a16="http://schemas.microsoft.com/office/drawing/2014/main" id="{4B08BA82-045B-1F95-0998-C1F8946F2C6C}"/>
              </a:ext>
            </a:extLst>
          </p:cNvPr>
          <p:cNvSpPr txBox="1">
            <a:spLocks/>
          </p:cNvSpPr>
          <p:nvPr/>
        </p:nvSpPr>
        <p:spPr>
          <a:xfrm>
            <a:off x="6574314" y="2120900"/>
            <a:ext cx="4591114" cy="32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dirty="0"/>
              <a:t>Embrace </a:t>
            </a:r>
            <a:r>
              <a:rPr lang="en-US" dirty="0">
                <a:solidFill>
                  <a:schemeClr val="accent1"/>
                </a:solidFill>
              </a:rPr>
              <a:t>automation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Regularly </a:t>
            </a:r>
            <a:r>
              <a:rPr lang="en-US" dirty="0">
                <a:solidFill>
                  <a:schemeClr val="accent1"/>
                </a:solidFill>
              </a:rPr>
              <a:t>update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maintain data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1"/>
                </a:solidFill>
              </a:rPr>
              <a:t>Optimize </a:t>
            </a:r>
            <a:r>
              <a:rPr lang="en-US" dirty="0"/>
              <a:t>resource allocation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Seek </a:t>
            </a:r>
            <a:r>
              <a:rPr lang="en-US" dirty="0">
                <a:solidFill>
                  <a:schemeClr val="accent1"/>
                </a:solidFill>
              </a:rPr>
              <a:t>user feedback</a:t>
            </a:r>
            <a:r>
              <a:rPr lang="en-US" dirty="0"/>
              <a:t> and continuous </a:t>
            </a:r>
            <a:r>
              <a:rPr lang="en-US" dirty="0">
                <a:solidFill>
                  <a:schemeClr val="accent1"/>
                </a:solidFill>
              </a:rPr>
              <a:t>improvement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Provide </a:t>
            </a:r>
            <a:r>
              <a:rPr lang="en-US" dirty="0">
                <a:solidFill>
                  <a:schemeClr val="accent1"/>
                </a:solidFill>
              </a:rPr>
              <a:t>training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support</a:t>
            </a:r>
          </a:p>
          <a:p>
            <a:pPr marL="285750" indent="-285750">
              <a:buFontTx/>
              <a:buChar char="-"/>
            </a:pPr>
            <a:r>
              <a:rPr lang="en-US" dirty="0"/>
              <a:t>Make a </a:t>
            </a:r>
            <a:r>
              <a:rPr lang="en-US" dirty="0">
                <a:solidFill>
                  <a:schemeClr val="accent1"/>
                </a:solidFill>
              </a:rPr>
              <a:t>Web-Based Application</a:t>
            </a:r>
          </a:p>
        </p:txBody>
      </p:sp>
      <p:grpSp>
        <p:nvGrpSpPr>
          <p:cNvPr id="5" name="Google Shape;488;p33">
            <a:extLst>
              <a:ext uri="{FF2B5EF4-FFF2-40B4-BE49-F238E27FC236}">
                <a16:creationId xmlns:a16="http://schemas.microsoft.com/office/drawing/2014/main" id="{BEDCE03C-9596-53B5-CB67-A3D2ED08D765}"/>
              </a:ext>
            </a:extLst>
          </p:cNvPr>
          <p:cNvGrpSpPr/>
          <p:nvPr/>
        </p:nvGrpSpPr>
        <p:grpSpPr>
          <a:xfrm>
            <a:off x="6402492" y="978684"/>
            <a:ext cx="635280" cy="147600"/>
            <a:chOff x="2147366" y="4139382"/>
            <a:chExt cx="635280" cy="147600"/>
          </a:xfrm>
        </p:grpSpPr>
        <p:sp>
          <p:nvSpPr>
            <p:cNvPr id="6" name="Google Shape;489;p33">
              <a:extLst>
                <a:ext uri="{FF2B5EF4-FFF2-40B4-BE49-F238E27FC236}">
                  <a16:creationId xmlns:a16="http://schemas.microsoft.com/office/drawing/2014/main" id="{4517293B-0BA4-88CE-8FEC-32E9CE35E6CB}"/>
                </a:ext>
              </a:extLst>
            </p:cNvPr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490;p33">
              <a:extLst>
                <a:ext uri="{FF2B5EF4-FFF2-40B4-BE49-F238E27FC236}">
                  <a16:creationId xmlns:a16="http://schemas.microsoft.com/office/drawing/2014/main" id="{0893EE52-5053-37FF-CCB1-EE390B525CA4}"/>
                </a:ext>
              </a:extLst>
            </p:cNvPr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491;p33">
              <a:extLst>
                <a:ext uri="{FF2B5EF4-FFF2-40B4-BE49-F238E27FC236}">
                  <a16:creationId xmlns:a16="http://schemas.microsoft.com/office/drawing/2014/main" id="{2EAB7C8B-2494-02D1-7D28-E6C13E465583}"/>
                </a:ext>
              </a:extLst>
            </p:cNvPr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6021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4"/>
          <p:cNvSpPr/>
          <p:nvPr/>
        </p:nvSpPr>
        <p:spPr>
          <a:xfrm>
            <a:off x="820850" y="1462175"/>
            <a:ext cx="9234900" cy="37350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4"/>
          <p:cNvSpPr/>
          <p:nvPr/>
        </p:nvSpPr>
        <p:spPr>
          <a:xfrm>
            <a:off x="820850" y="1462175"/>
            <a:ext cx="9234900" cy="3735000"/>
          </a:xfrm>
          <a:prstGeom prst="roundRect">
            <a:avLst>
              <a:gd name="adj" fmla="val 3539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4"/>
          <p:cNvSpPr txBox="1">
            <a:spLocks noGrp="1"/>
          </p:cNvSpPr>
          <p:nvPr>
            <p:ph type="title"/>
          </p:nvPr>
        </p:nvSpPr>
        <p:spPr>
          <a:xfrm>
            <a:off x="1110721" y="1833825"/>
            <a:ext cx="86082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REFERENCES: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869" name="Google Shape;869;p44"/>
          <p:cNvSpPr txBox="1">
            <a:spLocks noGrp="1"/>
          </p:cNvSpPr>
          <p:nvPr>
            <p:ph type="body" idx="1"/>
          </p:nvPr>
        </p:nvSpPr>
        <p:spPr>
          <a:xfrm>
            <a:off x="1110721" y="2395800"/>
            <a:ext cx="8820679" cy="2066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◦ http://www.ibe.unesco.org/en/glossary-curriculum-terminology/s/school-timetable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◦ https://goschooler.com/benefits-of-school-timetable-management-systems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◦ https://ezyschooling.com/parenting/expert/importance-of-a-timetable-in-student-life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◦ https://www.wrike.com/blog/dont-let-schedule-conflicts-ruin-your-plans/?fbclid=IwAR32BrxeC9te2eHisHHzZT4a5jmBjZVSVF7L75uqG9gtn10Yg7chBb7bJUQ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◦https://scholarworks.umt.edu/cgi/viewcontent.cgi?article=9366&amp;context=etd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◦ https://ww1.odu.edu/content/dam/odu/col-dept/cdse/docs/2-classroom-schedules.pdf</a:t>
            </a:r>
          </a:p>
        </p:txBody>
      </p:sp>
      <p:grpSp>
        <p:nvGrpSpPr>
          <p:cNvPr id="870" name="Google Shape;870;p44"/>
          <p:cNvGrpSpPr/>
          <p:nvPr/>
        </p:nvGrpSpPr>
        <p:grpSpPr>
          <a:xfrm>
            <a:off x="963121" y="1592209"/>
            <a:ext cx="635280" cy="147600"/>
            <a:chOff x="2147366" y="4139382"/>
            <a:chExt cx="635280" cy="147600"/>
          </a:xfrm>
        </p:grpSpPr>
        <p:sp>
          <p:nvSpPr>
            <p:cNvPr id="871" name="Google Shape;871;p44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44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44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3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</a:t>
            </a:r>
            <a:r>
              <a:rPr lang="en" sz="9000">
                <a:solidFill>
                  <a:schemeClr val="accent3"/>
                </a:solidFill>
              </a:rPr>
              <a:t>YOU!</a:t>
            </a:r>
            <a:endParaRPr sz="9000">
              <a:solidFill>
                <a:schemeClr val="accent3"/>
              </a:solidFill>
            </a:endParaRPr>
          </a:p>
        </p:txBody>
      </p:sp>
      <p:sp>
        <p:nvSpPr>
          <p:cNvPr id="861" name="Google Shape;861;p43"/>
          <p:cNvSpPr txBox="1">
            <a:spLocks noGrp="1"/>
          </p:cNvSpPr>
          <p:nvPr>
            <p:ph type="body" idx="2"/>
          </p:nvPr>
        </p:nvSpPr>
        <p:spPr>
          <a:xfrm>
            <a:off x="7372700" y="2698000"/>
            <a:ext cx="3167700" cy="1938575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NOW PROCEEDING TO THE </a:t>
            </a:r>
            <a:r>
              <a:rPr lang="en-US" dirty="0">
                <a:solidFill>
                  <a:schemeClr val="accent1"/>
                </a:solidFill>
              </a:rPr>
              <a:t>SYSTEM DEMONSRATION</a:t>
            </a:r>
            <a:r>
              <a:rPr lang="en-US" dirty="0"/>
              <a:t> → 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>
            <a:spLocks noGrp="1"/>
          </p:cNvSpPr>
          <p:nvPr>
            <p:ph type="title"/>
          </p:nvPr>
        </p:nvSpPr>
        <p:spPr>
          <a:xfrm>
            <a:off x="2523475" y="1607299"/>
            <a:ext cx="6796800" cy="2902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CLASS SCHEDULING MANAGEMENT SYSTEM</a:t>
            </a:r>
            <a:r>
              <a:rPr lang="en" sz="6000" dirty="0"/>
              <a:t> </a:t>
            </a:r>
            <a:br>
              <a:rPr lang="en" sz="6000" dirty="0"/>
            </a:br>
            <a:r>
              <a:rPr lang="en" dirty="0">
                <a:solidFill>
                  <a:schemeClr val="accent1"/>
                </a:solidFill>
              </a:rPr>
              <a:t>CSMS</a:t>
            </a:r>
            <a:endParaRPr sz="5000" dirty="0"/>
          </a:p>
        </p:txBody>
      </p:sp>
      <p:sp>
        <p:nvSpPr>
          <p:cNvPr id="381" name="Google Shape;381;p22"/>
          <p:cNvSpPr txBox="1">
            <a:spLocks noGrp="1"/>
          </p:cNvSpPr>
          <p:nvPr>
            <p:ph type="subTitle" idx="1"/>
          </p:nvPr>
        </p:nvSpPr>
        <p:spPr>
          <a:xfrm>
            <a:off x="5733525" y="4775501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600" dirty="0">
                <a:solidFill>
                  <a:schemeClr val="accent1"/>
                </a:solidFill>
              </a:rPr>
              <a:t>&lt;p&gt;</a:t>
            </a:r>
            <a:r>
              <a:rPr lang="en" sz="1600" dirty="0"/>
              <a:t> Presented by: </a:t>
            </a:r>
            <a:r>
              <a:rPr lang="en" sz="1600" dirty="0">
                <a:solidFill>
                  <a:schemeClr val="accent1"/>
                </a:solidFill>
              </a:rPr>
              <a:t>Hosni Benito</a:t>
            </a:r>
            <a:r>
              <a:rPr lang="en" sz="1600" dirty="0"/>
              <a:t>, </a:t>
            </a:r>
            <a:r>
              <a:rPr lang="en" sz="1600" dirty="0">
                <a:solidFill>
                  <a:schemeClr val="accent1"/>
                </a:solidFill>
              </a:rPr>
              <a:t>Monthafer Barani</a:t>
            </a:r>
            <a:r>
              <a:rPr lang="en" sz="1600" dirty="0"/>
              <a:t>, </a:t>
            </a:r>
            <a:r>
              <a:rPr lang="en" sz="1600" dirty="0">
                <a:solidFill>
                  <a:schemeClr val="accent1"/>
                </a:solidFill>
              </a:rPr>
              <a:t>Abdulrahim Abdulbasher</a:t>
            </a:r>
            <a:r>
              <a:rPr lang="en" sz="1600" dirty="0"/>
              <a:t>, </a:t>
            </a:r>
            <a:r>
              <a:rPr lang="en" sz="1600" dirty="0">
                <a:solidFill>
                  <a:schemeClr val="accent1"/>
                </a:solidFill>
              </a:rPr>
              <a:t>Rania H. Azis</a:t>
            </a:r>
            <a:r>
              <a:rPr lang="en" sz="1600" dirty="0"/>
              <a:t> </a:t>
            </a:r>
            <a:r>
              <a:rPr lang="en" sz="1600" dirty="0">
                <a:solidFill>
                  <a:schemeClr val="accent1"/>
                </a:solidFill>
              </a:rPr>
              <a:t>&lt;/p&gt;</a:t>
            </a:r>
            <a:endParaRPr sz="1600" dirty="0">
              <a:solidFill>
                <a:schemeClr val="accent1"/>
              </a:solidFill>
            </a:endParaRPr>
          </a:p>
        </p:txBody>
      </p:sp>
      <p:sp>
        <p:nvSpPr>
          <p:cNvPr id="2" name="Google Shape;854;p43">
            <a:extLst>
              <a:ext uri="{FF2B5EF4-FFF2-40B4-BE49-F238E27FC236}">
                <a16:creationId xmlns:a16="http://schemas.microsoft.com/office/drawing/2014/main" id="{7F46881F-F7F3-B4B8-ABD8-9BC90A74128C}"/>
              </a:ext>
            </a:extLst>
          </p:cNvPr>
          <p:cNvSpPr txBox="1">
            <a:spLocks/>
          </p:cNvSpPr>
          <p:nvPr/>
        </p:nvSpPr>
        <p:spPr>
          <a:xfrm>
            <a:off x="5733525" y="3565950"/>
            <a:ext cx="5873400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ct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ct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ct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ct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ct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ct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ctr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ctr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spcAft>
                <a:spcPts val="2100"/>
              </a:spcAft>
            </a:pPr>
            <a:r>
              <a:rPr lang="en-US" dirty="0"/>
              <a:t>Do you have any </a:t>
            </a:r>
            <a:r>
              <a:rPr lang="en-US" dirty="0">
                <a:solidFill>
                  <a:schemeClr val="accent2"/>
                </a:solidFill>
              </a:rPr>
              <a:t>questions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1956180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FFFFFF"/>
      </a:dk1>
      <a:lt1>
        <a:srgbClr val="16242F"/>
      </a:lt1>
      <a:dk2>
        <a:srgbClr val="FFFFFF"/>
      </a:dk2>
      <a:lt2>
        <a:srgbClr val="1F3240"/>
      </a:lt2>
      <a:accent1>
        <a:srgbClr val="EB8FD8"/>
      </a:accent1>
      <a:accent2>
        <a:srgbClr val="BA94E9"/>
      </a:accent2>
      <a:accent3>
        <a:srgbClr val="B9D4B4"/>
      </a:accent3>
      <a:accent4>
        <a:srgbClr val="F46659"/>
      </a:accent4>
      <a:accent5>
        <a:srgbClr val="FFBC3E"/>
      </a:accent5>
      <a:accent6>
        <a:srgbClr val="1CC549"/>
      </a:accent6>
      <a:hlink>
        <a:srgbClr val="EB8F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3205</TotalTime>
  <Words>600</Words>
  <Application>Microsoft Office PowerPoint</Application>
  <PresentationFormat>Widescreen</PresentationFormat>
  <Paragraphs>130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Aldrich</vt:lpstr>
      <vt:lpstr>Candara</vt:lpstr>
      <vt:lpstr>Arial</vt:lpstr>
      <vt:lpstr>Abril Fatface</vt:lpstr>
      <vt:lpstr>Roboto Mono</vt:lpstr>
      <vt:lpstr>Calibri</vt:lpstr>
      <vt:lpstr>Roboto</vt:lpstr>
      <vt:lpstr>SlidesMania</vt:lpstr>
      <vt:lpstr>WELCOME TO THE FINAL DEFENSE</vt:lpstr>
      <vt:lpstr>CLASS SCHEDULING MANAGEMENT SYSTEM  CSMS</vt:lpstr>
      <vt:lpstr>ABOUT THE PROJECT</vt:lpstr>
      <vt:lpstr>PROJECT CONTEXT</vt:lpstr>
      <vt:lpstr>SYSTEM’S OBJECTIVES:</vt:lpstr>
      <vt:lpstr>SCOPE AND LIMITATION</vt:lpstr>
      <vt:lpstr>EXISTING WORKFLOW </vt:lpstr>
      <vt:lpstr>WORKFLOW RESOLUTION</vt:lpstr>
      <vt:lpstr>PROJECT TIMELINE</vt:lpstr>
      <vt:lpstr>CASE DIAGRAM </vt:lpstr>
      <vt:lpstr>CONCLUSION </vt:lpstr>
      <vt:lpstr>REFERENCES:</vt:lpstr>
      <vt:lpstr>THANK YOU!</vt:lpstr>
      <vt:lpstr>CLASS SCHEDULING MANAGEMENT SYSTEM  CSMS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SCHEDULING MANAGEMENT SYSTEM  CSMS</dc:title>
  <dc:creator>Mikhael Barani</dc:creator>
  <cp:lastModifiedBy>msu-wone</cp:lastModifiedBy>
  <cp:revision>13</cp:revision>
  <dcterms:modified xsi:type="dcterms:W3CDTF">2023-05-24T08:00:16Z</dcterms:modified>
</cp:coreProperties>
</file>